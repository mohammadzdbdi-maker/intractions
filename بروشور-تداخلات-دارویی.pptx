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237744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0" lIns="548640" tIns="640080"/>
          <a:lstStyle/>
          <a:p>
            <a:pPr algn="r" rtl="1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ad"/>
              </a:rPr>
              <a:t>راهنمای تداخلات دارویی</a:t>
            </a:r>
          </a:p>
          <a:p>
            <a:pPr algn="r" rtl="1"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CCCCCC"/>
                </a:solidFill>
                <a:latin typeface="Arad"/>
              </a:rPr>
              <a:t>ویژه پزشکان، پرستاران و داروسازان بیمارستان  |  دارو–دارو، دارو–غذا، دارو–آزمایش، تداخلات تزریقی، گیاهان و مکمل‌ها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743200"/>
            <a:ext cx="9866376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تدوین: دکتر داروساز — واحد دارویی  |  ویرایش: شهریور ۱۴۰۵  |  منابع: PubMed، UpToDate/Lexicomp، FDA، AAP، Trissel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66160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3566160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تداخلات دارو–دارو (صفحه ۲ و 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50208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950208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تداخل دارو با غذا (صفحه 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34256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334256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تداخل دارو با آزمایش (صفحه 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18304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718304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ناسازگاری داروهای تزریقی (صفحه ۶)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102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102352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گیاهان دارویی و مکمل‌ها (صفحه 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86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ad"/>
              </a:rPr>
              <a:t>بخش 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486400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C5C5C"/>
                </a:solidFill>
                <a:latin typeface="Arad"/>
              </a:rPr>
              <a:t>چک‌لیست، پرچم‌های قرمز و منابع (صفحه 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چرا باید به تداخلات دارویی توجه کنیم؟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کلیات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2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9866376" cy="50037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5000"/>
              </a:lnSpc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Arad"/>
              </a:rPr>
              <a:t>تداخل دارویی یعنی اثر یک دارو بر دارو، غذا یا آزمایشِ دیگر. بیشتر تداخل‌ها قابل پیشگیری‌اند: کافی است آن‌ها را بشناسید و پیش از تجویز بررسی کنید.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87932"/>
            <a:ext cx="3179064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/>
          <a:lstStyle/>
          <a:p>
            <a:pPr algn="r" rtl="1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Arad"/>
              </a:rPr>
              <a:t>۶۵٪</a:t>
            </a:r>
          </a:p>
          <a:p>
            <a:pPr algn="r" rtl="1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Arad"/>
              </a:rPr>
              <a:t>بیماران بستری دست‌کم یک تداخل بالقوه دارند</a:t>
            </a:r>
          </a:p>
          <a:p>
            <a:pPr algn="r" rtl="1"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متاآنالیز ۱۵ مطالعه روی بیماران بستری (۲۰۲۳)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55136" y="1487932"/>
            <a:ext cx="3179064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/>
          <a:lstStyle/>
          <a:p>
            <a:pPr algn="r" rtl="1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Arad"/>
              </a:rPr>
              <a:t>۱۷٪</a:t>
            </a:r>
          </a:p>
          <a:p>
            <a:pPr algn="r" rtl="1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Arad"/>
              </a:rPr>
              <a:t>سهم تداخل‌هایی که در بیمار واقعاً علامت می‌دهند</a:t>
            </a:r>
          </a:p>
          <a:p>
            <a:pPr algn="r" rtl="1"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یعنی از هر ۶ تداخل بالقوه، یکی واقعی می‌شود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98792" y="1487932"/>
            <a:ext cx="3179064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/>
          <a:lstStyle/>
          <a:p>
            <a:pPr algn="r" rtl="1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Arad"/>
              </a:rPr>
              <a:t>۵+</a:t>
            </a:r>
          </a:p>
          <a:p>
            <a:pPr algn="r" rtl="1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Arad"/>
              </a:rPr>
              <a:t>هرچه تعداد داروهای بیمار بیشتر شود</a:t>
            </a:r>
          </a:p>
          <a:p>
            <a:pPr algn="r" rtl="1"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خطر تداخل هم بیشتر می‌شود (چنددارویی)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76652"/>
            <a:ext cx="9866376" cy="310896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Arad"/>
              </a:rPr>
              <a:t>چهار نوع تداخل — با یک مثال برای هر کدام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8404"/>
            <a:ext cx="9866376" cy="182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3097276"/>
          <a:ext cx="9866373" cy="2183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791"/>
                <a:gridCol w="3288791"/>
                <a:gridCol w="3288791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نوع تداخل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اتفاقی می‌افتد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مثال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فارماکوکینتیک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یک دارو جذب، متابولیسم یا دفع داروی دیگر را تغییر می‌دهد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فلوکونازول سطح تاکرولیموس را بالا می‌برد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فارماکودینامیک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 دارو روی یک اندام اثر افزایشی یا ضدِ هم دارند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مهارکننده ACE با اسپیرونولاکتون → پتاسیم خون بالا می‌رود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فیزیکی (تزریقی)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 دارو در سرنگ یا لاین با هم رسوب می‌دهند یا خنثی می‌شوند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سفتریاکسون با سرم کلسیم‌دار رسوب می‌دهد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با آزمایش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دارو نتیجه آزمایش را واقعاً یا به‌طور کاذب تغییر می‌دهد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بیوتین TSH را کاذباً پایین نشان می‌دهد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5445315"/>
            <a:ext cx="9866376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C5C5C"/>
                </a:solidFill>
                <a:latin typeface="Arad"/>
              </a:rPr>
              <a:t>راهنمای نشانگر شدت در جدول‌ها:  [X] منع مصرف     [D] عمده     [C] متوسط     [B] خفیف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811075"/>
            <a:ext cx="9866376" cy="10555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سه قانون ساده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۱) هر داروی جدید را با فهرست داروهای بیمار مقایسه کنید — حتی داروهای بدون نسخه و مکمل‌ها.  ۲) اگر تداخل «عمده» یا «منع مصرف» بود: دارو را عوض کنید، دوز را تنظیم کنید یا فاصله زمانی بدهید.  ۳) تصمیم را در پرونده بنویسید و به پرستار و پزشک اطلاع دهید.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هشت تداخل مهم که باید بشناسید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۱ — تداخلات دارو–دارو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3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32688"/>
          <a:ext cx="9866375" cy="407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10"/>
                <a:gridCol w="2367930"/>
                <a:gridCol w="2367930"/>
                <a:gridCol w="1973275"/>
                <a:gridCol w="2367930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شدت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دارو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با چه دارویی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می‌شود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باید کرد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ماکرولیدها (آزیترومایسین، کلاریترومایسین)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داروهای طولانی‌کننده QT مانند اندانسترون و آمیودارون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آریتمی خطرناک قلبی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نوار قلب و اصلاح پتاسیم؛ اگر ممکن است داروی دیگری بدهید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ضدقارچ‌های آزول (فلوکونازول، وریکونازول)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تاکرولیموس، سیکلوسپورین، وارفارین، استاتین‌ها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بالا رفتن سطح دارو و سمیت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سطح خونی دارو را اندازه بگیرید و دوز را کم کنید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ریفامپین (و کاربامازپین، فنی‌توئین)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وارفارین، کورتیکواستروئیدها، تاکرولیموس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کم شدن اثر دارو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دوز را با پایش آزمایشگاهی بالا ببرید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NSAIDها (ایبوپروفن، دیکلوفناک)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وارفارین یا کورتیکواستروئیدها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خونریزی گوارشی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ترکیب نکنید؛ اگر ناچار شدید داروی محافظ معده بدهید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مهارکننده‌های ACE (کاپتوپریل، انالاپریل)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اسپیرونولاکتون یا مکمل پتاسیم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پتاسیم خون بالا می‌رود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پتاسیم را چک کنید و مکمل پتاسیم را قطع کنید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X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کوتریموکسازول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متوترکسات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سرکوب شدید مغز استخوان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این دو را همزمان ندهید؛ آنتی‌بیوتیک دیگری انتخاب کنید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آمیودارون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دیگوکسین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مسمومیت با دیگوکسین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دوز دیگوکسین را نصف کنید و سطح آن را پایش کنید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اوپیوئیدها (مورفین، فنتانیل)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بنزودیازپین‌ها (دیازپام، میدازولام)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کند شدن یا توقف تنفس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دوز را کم کنید؛ سطح هوشیاری و تنفس را پایش کنید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67439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نکته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دو داروی بالا فقط نمونه‌اند. هر داروی جدیدی که به نسخه اضافه می‌شود را با همین منطق بررسی کنید: «این دارو چه اثری بر داروهای دیگر دارد؟»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مکانیسم تداخل‌ها و چهار راه مدیریت آن‌ها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۱ — ادامه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4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9866376" cy="310896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Arad"/>
              </a:rPr>
              <a:t>دو گروه دارو که بیشترین تداخل را می‌سازند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9866376" cy="182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53312"/>
          <a:ext cx="4823460" cy="1459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903"/>
                <a:gridCol w="2170557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مهارکننده‌ها (اثر را زیاد می‌کنند)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مثال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ضدقارچ‌های آزول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فلوکونازول، وریکونازول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ماکرولیدها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کلاریترومایسین، اریترومایسین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سایمتیدین و آمیودارون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افزایش سطح خونی داروهای دیگر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آب گریپ‌فروت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همین اثر را دارد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54396" y="1353312"/>
          <a:ext cx="4823460" cy="164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903"/>
                <a:gridCol w="2170557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القاکننده‌ها (اثر را کم می‌کنند)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مثال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ریفامپین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کاهش اثر خیلی از داروها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کاربامازپین و فنی‌توئین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کاهش سطح داروهای همراه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فنوباربیتال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کاهش اثر ضدانعقادها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علف چای (گیاهی)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کاهش اثر داروی پیوند و ضدبارداری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158426"/>
            <a:ext cx="9866376" cy="310896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Arad"/>
              </a:rPr>
              <a:t>چهار راه برای مدیریت یک تداخل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460178"/>
            <a:ext cx="9866376" cy="182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579050"/>
            <a:ext cx="2343150" cy="1120139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۱. دارو را عوض کنید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ساده‌ترین راه: دارویی از همان گروه که تداخل ندارد انتخاب کنید.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9222" y="3579050"/>
            <a:ext cx="2343150" cy="92964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۲. دوز را تنظیم کنید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مثال: با آمیودارون، دوز دیگوکسین را نصف کنید.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6964" y="3579050"/>
            <a:ext cx="2343150" cy="92964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۳. فاصله زمانی بدهید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مثال: آنتی‌بیوتیک و مکمل آهن را ۲ ساعت از هم جدا کنید.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4706" y="3579050"/>
            <a:ext cx="2343150" cy="1120139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۴. بیمار را پایش کنید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آزمایش، نوار قلب، سطح دارو یا علائم بالینی را پیگیری کنید.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63782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داروهایی که کوچک‌ترین تداخل در آن‌ها مهم است (شاخص درمانی باریک)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وارفارین، انسولین، دیگوکسین، لیتیم، تئوفیلین، فنی‌توئین، کاربامازپین، والپروات، متوترکسات، سیکلوسپورین، تاکرولیموس، آمینوگلیکوزیدها، ونکومایسین، لووتیروکسین — اگر یکی از این‌ها در نسخه است، هر داروی جدید را حتماً بررسی کنید.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دارو و غذا: هشت مورد پُرتکرار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۲ — تداخل دارو با غذا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5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32688"/>
          <a:ext cx="9866374" cy="407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930"/>
                <a:gridCol w="2466594"/>
                <a:gridCol w="2071938"/>
                <a:gridCol w="2959912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غذا / نوشیدنی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داروی درگیر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می‌شود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توصیه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شیر، ماست، پنیر و مکمل کلسیم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سیپروفلوکساسین، تتراسیکلین، آهن، لووتیروکسین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جذب دارو کم می‌شود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بین آن‌ها دست‌کم ۲ ساعت فاصله بدهید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آب گریپ‌فروت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استاتین‌ها، سیکلوسپورین، آملودیپین، کاربامازپین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سطح دارو بالا می‌رود و سمیت می‌دهد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طول درمان کاملاً حذف شود؛ فاصله زمانی فایده ندارد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سبزیجات برگ‌سبز (ویتامین K)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وارفارین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اثر رقیق‌کنندگی کم می‌شود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مقدار خوراک روزانه ثابت بماند (حذف لازم نیست)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غذاهای تیرامین‌دار (پنیر کهنه، کالباس، سویا‌سس)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لینزولید و مهارکننده‌های MAO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فشار خون به‌طور خطرناکی بالا می‌رود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طول درمان مصرف نشود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کافئین (چای، قهوه، نوشابه انرژی‌زا)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تئوفیلین، سیپروفلوکساسین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بی‌قراری، تپش قلب و بی‌خوابی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مصرف کافئین را محدود کنید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مکمل آهن با چای، قهوه و لبنیات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جذب آهن و داروهای دیگر کم می‌شود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کم‌خونی بهتر نمی‌شود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آهن را با آب یا آب‌پرتقال و با فاصله از بقیه داروها بدهید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شیرین‌بیان (حتی در آب‌نبات و دمنوش)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داروهای فشارخون، دیورتیک‌ها، دیگوکسین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پتاسیم خون پایین می‌آید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طول درمان مصرف نشود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الکل (حتی در شربت‌ها و دهان‌شویه)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استامینوفن، بنزودیازپین‌ها، مترونیدازول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آسیب کبدی یا خواب‌آلودگی شدید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همزمان مصرف نشود؛ برچسب فرآورده را چک کنید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67439"/>
            <a:ext cx="4850892" cy="92964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داروهایی که با معده خالی بهتر جذب می‌شوند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یک ساعت پیش از غذا یا دو ساعت پس از آن: آمپی‌سیلین، اریترومایسین استئارات، ریفامپین، لووتیروکسین، کتوکونازول.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6964" y="5167439"/>
            <a:ext cx="4850892" cy="1120139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داروهایی که بهتر است با غذا باشند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برای کاهش دل‌درد یا جذب بهتر: ایبوپروفن و سایر NSAIDها، کورتیکواستروئیدها، آموکسی‌سیلین-کلاوولانات، نیتروفورانتوئین، مترونیدازول، گریزئوفولوین (با غذای چرب).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دارو نتیجه آزمایش را واقعاً یا به‌طور کاذب تغییر می‌دهد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۳ — تداخل دارو با آزمایش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6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9866376" cy="29590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5000"/>
              </a:lnSpc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Arad"/>
              </a:rPr>
              <a:t>هرگاه نتیجه آزمایش با حالِ بیمار نمی‌خواند، پیش از هر اقدامی احتمال تداخل دارویی را بررسی کنید.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3462"/>
            <a:ext cx="9866376" cy="10555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هشدار مهم: بیوتین (ویتامین B7)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بیوتین در بسیاری از کیت‌های آزمایشگاهی اختلال ایجاد می‌کند: TSH را کاذباً پایین و FT4 را کاذباً بالا نشان می‌دهد (شبیه پرکاری تیروئید) و تروپونین را کاذباً پایین می‌آورد (خطر از دست رفتن تشخیص سکته قلبی). مکمل بیوتین را ۸ ساعت (دوز معمول) تا ۷۲ ساعت (دوز بالا) پیش از نمونه‌گیری قطع کنید. منبع: هشدار FDA، ۲۰۱۷.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485326"/>
          <a:ext cx="9866375" cy="2693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275"/>
                <a:gridCol w="3946550"/>
                <a:gridCol w="3946550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آزمایش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داروهایی که مقدار را بالا می‌برند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داروهایی که مقدار را پایین می‌آورند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پتاسیم خون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مهارکننده‌های ACE، اسپیرونولاکتون، NSAIDها، سیکلوسپورین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انسولین، سالبوتامول، کاربامازپین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کراتینین و اوره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سایمتیدین، کوتریموکسازول، کاپتوپریل، آمیکاسین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ایبوپروفن، پردنیزولون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بیلی‌روبین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استامینوفن، سیکلوسپورین، آزیترومایسین، ریفامپین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فنوباربیتال، والپروات، فنی‌توئین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آنزیم‌های کبدی (ALT/AST)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کاربامازپین، فنی‌توئین، استاتین‌ها، استامینوفن در مسمومیت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ریفامپین، ایبوپروفن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اسیداوریک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هیدروکلرتیازید، سیکلوسپورین، وارفارین، سیس‌پلاتین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آلوپورینول، لوزارتان، دوز بالای آسپرین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پلاکت و گلبول قرمز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آموکسی‌سیلین، لیتیم، قرص‌های ضدبارداری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سفالوسپورین‌ها، کاربامازپین، متیل‌دوپا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PT / INR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آنتی‌بیوتیک‌های وسیع‌الطیف، آسپرین، فنی‌توئین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ویتامین K، ریفامپین، باربیتورات‌ها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343525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دو خطای رایج در نمونه‌گیری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▪  نمونه را از همان لاینی که دارو در حال انفوزیون است نگیرید (نتیجه گلوکز، پتاسیم و الکترولیت‌ها را خراب می‌کند).  ▪  زمان نمونه را یادداشت کنید: نمونه برای اندازه‌گیری سطح دارو باید درست پیش از دوز بعدی باشد.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پیش از وصل کردن هر دارو به لاین بیمار این صفحه را نگاه کنید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۴ — ناسازگاری داروهای تزریقی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7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32688"/>
            <a:ext cx="9866376" cy="10555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مهم‌ترین مورد: سفتریاکسون و کلسیم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این دو با هم رسوب می‌دهند و در نوزادان موارد مرگ گزارش شده است. در نوزاد ۲۸ روز و کمتر، هرگز همزمان تجویز نشوند (حتی از دو لاین جدا). در بقیه بیماران می‌توان آن‌ها را یکی پس از دیگری و با فلاش کامل سرم نمکی داد. سفتریاکسون را با رینگر یا هارتمن رقیق نکنید.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134552"/>
          <a:ext cx="9866375" cy="3236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275"/>
                <a:gridCol w="2466594"/>
                <a:gridCol w="2170602"/>
                <a:gridCol w="3255904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دارو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ناسازگار با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می‌شود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باید کرد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فنی‌توئین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سرم دکستروز و بیشتر داروها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رسوب فوری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فقط با نرمال‌سالین؛ فیلتر و فلاش پیش و پس از تزریق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سدیم‌بی‌کربنات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دوپامین، اپی‌نفرین، کلسیم، منیزیم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دارو خنثی می‌شود یا رسوب می‌دهد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لاین جداگانه یا فلاش کامل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فوروزماید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میدازولام، لابتالول، ونکومایسین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رسوب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لاین جدا یا فلاش بین دو دارو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0702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آمفوتریسین 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نرمال‌سالین و سرم‌های الکترولیتی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رسوب و از بین رفتن دارو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فقط با سرم دکستروز ۵٪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هپارین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آمینوگلیکوزیدها، آمپی‌سیلین، مورفین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خنثی شدن هر دو دارو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لاین جداگانه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ونکومایسین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پنی‌سیلین‌ها، سفالوسپورین‌ها، بی‌کربنات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رسوب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فلاش کامل یا لاین جدا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تغذیه وریدی (TPN) و لیپید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کلسیم در کنار فسفات و بیشتر داروها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رسوب یا شکستن امولسیون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هیچ دارویی را به کیسه تغذیه وریدی اضافه نکنید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535676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سه قانون پیش از وصل کردن دارو به لاین (Y-site)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۱) سازگاری را در منبع معتبر (Trissel یا برنامه سازگاری بیمارستان) بررسی کنید.  ۲) پیش و پس از هر دارو با نرمال‌سالین فلاش دهید.  ۳) حین تزریق لاین را از نظر کدورت و ذرات نگاه کنید؛ اگر شک داشتید، ست را عوض کنید.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شش مورد پُرخطر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۵ — گیاهان دارویی و مکمل‌ها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8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32688"/>
          <a:ext cx="9866374" cy="3126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10"/>
                <a:gridCol w="2565257"/>
                <a:gridCol w="3749222"/>
                <a:gridCol w="2762585"/>
              </a:tblGrid>
              <a:tr h="296735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شدت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گیاه یا مکمل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چه می‌کند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توصیه</a:t>
                      </a:r>
                    </a:p>
                  </a:txBody>
                  <a:tcPr marL="45720" marR="45720" marT="18288" marB="18288" anchor="ctr">
                    <a:solidFill>
                      <a:srgbClr val="E3E3E3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علف چای (گیاهی)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اثر داروهای زیادی را کم می‌کند: سیکلوسپورین، وارفارین، قرص ضدبارداری، ضدتشنج‌ها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بیمار بستری مصرف نشود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سیر، جینکگو، جینسینگ، زنجبیل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با وارفارین، هپارین و NSAIDها خطر خونریزی را زیاد می‌کنند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دست‌کم ۷ تا ۱۰ روز پیش از جراحی قطع شود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بیوتین (ویتامین B7)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نتیجه آزمایش‌ها را کاذب می‌کند (TSH پایین، تروپونین پایین)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۸ تا ۷۲ ساعت پیش از نمونه‌گیری قطع 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مکمل‌های کلسیم، آهن، منیزیم، روی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جذب آنتی‌بیوتیک‌ها، لووتیروکسین و بیس‌فسفونات‌ها را کم می‌کنند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بین مکمل و دارو ۲ تا ۴ ساعت فاصله بدهید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سنبل‌الطیب، بابونه، گل ساعتی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خواب‌آلودگی داروهای آرام‌بخش و اوپیوئیدها را بیشتر می‌کنند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بیمارستان مصرف نشود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1678"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ad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شیرین‌بیان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با دیورتیک‌ها و دیگوکسین پتاسیم خون را پایین می‌آورد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ad"/>
                        </a:rPr>
                        <a:t>در طول درمان مصرف نشود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224083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سه پرسش ساده هنگام پذیرش بیمار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۱) داروی بدون نسخه هم می‌خورید؟ (استامینوفن، ایبوپروفن، آنتی‌هیستامین، شربت سرماخوردگی)  ۲) داروی گیاهی، دمنوش یا مکمل و ویتامین مصرف می‌کنید؟  ۳) چه داروهایی را در خانه می‌خورید که در بیمارستان ادامه نیافته یا قطع شده است؟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232590"/>
            <a:ext cx="9866376" cy="862203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lIns="128016" tIns="54864" bIns="54864"/>
          <a:lstStyle/>
          <a:p>
            <a:pPr algn="r" rtl="1"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Arad"/>
              </a:rPr>
              <a:t>چه بیمارانی در خطر بیشتری هستند؟</a:t>
            </a:r>
          </a:p>
          <a:p>
            <a:pPr algn="r" rtl="1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بیماران با پنج دارو یا بیشتر، سالمندان، بیماران با نارسایی کلیه یا کبد، بیماران بخش مراقبت ویژه، و هر بیماری که داروی با شاخص درمانی باریک دارد.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49808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11480" lIns="411480" tIns="91440" bIns="0"/>
          <a:lstStyle/>
          <a:p>
            <a:pPr algn="r" rtl="1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ad"/>
              </a:rPr>
              <a:t>روش کارِ ساده برای بررسی هر نسخه</a:t>
            </a:r>
          </a:p>
          <a:p>
            <a:pPr algn="r" rtl="1">
              <a:spcAft>
                <a:spcPts val="200"/>
              </a:spcAft>
            </a:pPr>
            <a:r>
              <a:rPr sz="950" b="0">
                <a:solidFill>
                  <a:srgbClr val="BFBFBF"/>
                </a:solidFill>
                <a:latin typeface="Arad"/>
              </a:rPr>
              <a:t>بخش ۶ — چک‌لیست، پرچم‌های قرمز و منابع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7736" y="7232903"/>
            <a:ext cx="100584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5C5C5C"/>
                </a:solidFill>
                <a:latin typeface="Arad"/>
              </a:rPr>
              <a:t>صفحه 9 از 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232903"/>
            <a:ext cx="8403336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5C5C5C"/>
                </a:solidFill>
                <a:latin typeface="Arad"/>
              </a:rPr>
              <a:t>راهنمای تداخلات دارویی بیمارستان — تدوین: دکتر داروساز  |  ویرایش: شهریور ۱۴۰۵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9866376" cy="310896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Arad"/>
              </a:rPr>
              <a:t>شش گام برای بررسی تداخل در هر نسخه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9866376" cy="182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4750307" cy="1058227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1. فهرست کامل داروها را بنویسید: نسخه‌ای، بدون نسخه، گیاهی، مکمل، تغذیه‌ای.
2. داروهای پُرخطر (شاخص درمانی باریک) را علامت بزنید.
3. تداخل را در یک منبع معتبر (Lexicomp، Micromedex، UpToDate) چک کنید.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7548" y="1353312"/>
            <a:ext cx="4750307" cy="1058227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Arad"/>
              </a:rPr>
              <a:t>4. شدت را تعیین کنید: منع مصرف (X)، عمده (D)، متوسط (C)، خفیف (B).
5. یکی از چهار راه را انتخاب کنید: تعویض دارو، تنظیم دوز، فاصله زمانی، پایش.
6. تصمیم را در پرونده ثبت کنید و به پزشک و پرستار اطلاع دهید.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83942"/>
            <a:ext cx="4850892" cy="150114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پرچم‌های قرمز — این موارد را ساده نگذرانید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بیمار با پنج دارو یا بیشتر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داروی با شاخص درمانی باریک در نسخه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نارسایی کلیه یا کبد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سالمند یا بیمار بدحال در بخش ویژه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نتیجه آزمایش یا سطح داروی غیرمنتظره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26964" y="2583942"/>
            <a:ext cx="4850892" cy="1691639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09728" lIns="109728" tIns="54864" bIns="54864"/>
          <a:lstStyle/>
          <a:p>
            <a:pPr algn="r" rtl="1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Arad"/>
              </a:rPr>
              <a:t>منبع را کجا چک کنیم؟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تداخل دارویی: Lexicomp، Micromedex، UpToDate، Medscape، Drugs.com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سازگاری تزریقی: Trissel’s Handbook on Injectable Drugs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آزمایشگاه: دستورالعمل آزمایشگاه بیمارستان و هشدارهای FDA</a:t>
            </a:r>
          </a:p>
          <a:p>
            <a:pPr algn="r" rtl="1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▪  منابع فارسی و ترجمه‌ای: کتاب‌های Stockley و راهنماهای داخلی دارو و درمان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40174"/>
            <a:ext cx="9866376" cy="310896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Arad"/>
              </a:rPr>
              <a:t>منابع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41926"/>
            <a:ext cx="9866376" cy="182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860798"/>
            <a:ext cx="9866376" cy="1511045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C5C5C"/>
                </a:solidFill>
                <a:latin typeface="Arad"/>
              </a:rPr>
              <a:t>1. Aksoy N, Ozturk N. متاآنالیز شیوع تداخلات دارو–دارو در بیماران بستری (۲۰۲۳) — ۶۴.۹٪ تداخل بالقوه و ۱۷.۲٪ تداخل با علامت بالینی.
2. هشدار ایمنی سازمان غذا و داروی آمریکا (FDA) درباره تداخل بیوتین با آزمایش‌های ایمونواسی — ۲۰۱۷.
3. برچسب رسمی Rocephin (سفتریاکسون): منع مصرف همزمان با محلول‌های حاوی کلسیم در نوزادان.
4. برچسب رسمی Zithromax (آزیترومایسین): هشدار طولانی‌شدن QT و آریتمی بطنی.
5. مرورهای UpToDate و پایگاه Lexicomp در زمینه تداخلات دارویی و مدیریت آن‌ها.
6. American Family Physician — مدیریت تداخل آب گریپ‌فروت با داروها.
7. CHOC Children’s و AAP HealthyChildren — تداخل غذا و دارو.
8. Trissel’s Handbook on Injectable Drugs — سازگاری داروهای تزریقی.
9. منابع ارسالی شما: «تداخلات دارویی رایج»، «تداخلات دارویی مرگبار» و جزوه «داروها و مقادیر آزمایشگاهی».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335267"/>
            <a:ext cx="3166871" cy="420624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17563"/>
            <a:ext cx="2983991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تهیه و تدوین (دکتر داروساز): ...............................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61232" y="6335267"/>
            <a:ext cx="3166871" cy="420624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671" y="6417563"/>
            <a:ext cx="2983991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تأیید کمیته دارو و درمان:  ...............................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0984" y="6335267"/>
            <a:ext cx="3166871" cy="420624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2423" y="6417563"/>
            <a:ext cx="2983991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Arad"/>
              </a:rPr>
              <a:t>تاریخ بازنگری بعدی:  ...............................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737604"/>
            <a:ext cx="9866376" cy="29590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 rtl="1">
              <a:lnSpc>
                <a:spcPct val="135000"/>
              </a:lnSpc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Arad"/>
              </a:rPr>
              <a:t>این راهنما آموزشی است و جایگزین قضاوت بالینی، برچسب رسمی دارو و منابع به‌روز نیست.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